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ourier Prime" charset="1" panose="00000509000000000000"/>
      <p:regular r:id="rId27"/>
    </p:embeddedFont>
    <p:embeddedFont>
      <p:font typeface="Arimo Bold" charset="1" panose="020B0704020202020204"/>
      <p:regular r:id="rId28"/>
    </p:embeddedFont>
    <p:embeddedFont>
      <p:font typeface="Arimo" charset="1" panose="020B0604020202020204"/>
      <p:regular r:id="rId29"/>
    </p:embeddedFont>
    <p:embeddedFont>
      <p:font typeface="Space Mono Bold" charset="1" panose="02000809030000020004"/>
      <p:regular r:id="rId30"/>
    </p:embeddedFont>
    <p:embeddedFont>
      <p:font typeface="Space Mono" charset="1" panose="02000509040000020004"/>
      <p:regular r:id="rId31"/>
    </p:embeddedFont>
    <p:embeddedFont>
      <p:font typeface="Open Sans Bold" charset="1" panose="020B0806030504020204"/>
      <p:regular r:id="rId32"/>
    </p:embeddedFont>
    <p:embeddedFont>
      <p:font typeface="Open Sans" charset="1" panose="020B0606030504020204"/>
      <p:regular r:id="rId33"/>
    </p:embeddedFont>
    <p:embeddedFont>
      <p:font typeface="Courier Prime Bold" charset="1" panose="00000809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2456363"/>
            <a:ext cx="13550232" cy="255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8"/>
              </a:lnSpc>
            </a:pPr>
            <a:r>
              <a:rPr lang="en-US" sz="752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Gestión y Localización del Taller de Informática  {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81127" y="-102870"/>
            <a:ext cx="3611698" cy="10389870"/>
            <a:chOff x="0" y="0"/>
            <a:chExt cx="1317557" cy="3790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557" cy="3790253"/>
            </a:xfrm>
            <a:custGeom>
              <a:avLst/>
              <a:gdLst/>
              <a:ahLst/>
              <a:cxnLst/>
              <a:rect r="r" b="b" t="t" l="l"/>
              <a:pathLst>
                <a:path h="3790253" w="1317557">
                  <a:moveTo>
                    <a:pt x="0" y="0"/>
                  </a:moveTo>
                  <a:lnTo>
                    <a:pt x="1317557" y="0"/>
                  </a:lnTo>
                  <a:lnTo>
                    <a:pt x="1317557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17259300" y="544636"/>
            <a:ext cx="484064" cy="484064"/>
            <a:chOff x="0" y="0"/>
            <a:chExt cx="127490" cy="1274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7490" cy="127490"/>
            </a:xfrm>
            <a:custGeom>
              <a:avLst/>
              <a:gdLst/>
              <a:ahLst/>
              <a:cxnLst/>
              <a:rect r="r" b="b" t="t" l="l"/>
              <a:pathLst>
                <a:path h="127490" w="127490">
                  <a:moveTo>
                    <a:pt x="0" y="0"/>
                  </a:moveTo>
                  <a:lnTo>
                    <a:pt x="127490" y="0"/>
                  </a:lnTo>
                  <a:lnTo>
                    <a:pt x="127490" y="127490"/>
                  </a:lnTo>
                  <a:lnTo>
                    <a:pt x="0" y="127490"/>
                  </a:lnTo>
                  <a:close/>
                </a:path>
              </a:pathLst>
            </a:custGeom>
            <a:solidFill>
              <a:srgbClr val="05C6C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27490" cy="1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46047" y="7531845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8912" y="5399781"/>
            <a:ext cx="12483091" cy="161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System.out.println("Hecho por:</a:t>
            </a:r>
          </a:p>
          <a:p>
            <a:pPr algn="l">
              <a:lnSpc>
                <a:spcPts val="4284"/>
              </a:lnSpc>
            </a:pPr>
            <a:r>
              <a:rPr lang="en-US" sz="306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\nDavid Alonso, Sergio Camacho, Aday Fernández, Alberto González, Adrián González”);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4891" y="1267385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// RETO IES MIGUEL HERRERO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259300" y="1324535"/>
            <a:ext cx="484064" cy="484064"/>
            <a:chOff x="0" y="0"/>
            <a:chExt cx="127490" cy="127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7490" cy="127490"/>
            </a:xfrm>
            <a:custGeom>
              <a:avLst/>
              <a:gdLst/>
              <a:ahLst/>
              <a:cxnLst/>
              <a:rect r="r" b="b" t="t" l="l"/>
              <a:pathLst>
                <a:path h="127490" w="127490">
                  <a:moveTo>
                    <a:pt x="0" y="0"/>
                  </a:moveTo>
                  <a:lnTo>
                    <a:pt x="127490" y="0"/>
                  </a:lnTo>
                  <a:lnTo>
                    <a:pt x="127490" y="127490"/>
                  </a:lnTo>
                  <a:lnTo>
                    <a:pt x="0" y="127490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27490" cy="1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59300" y="2103874"/>
            <a:ext cx="484064" cy="484064"/>
            <a:chOff x="0" y="0"/>
            <a:chExt cx="127490" cy="1274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490" cy="127490"/>
            </a:xfrm>
            <a:custGeom>
              <a:avLst/>
              <a:gdLst/>
              <a:ahLst/>
              <a:cxnLst/>
              <a:rect r="r" b="b" t="t" l="l"/>
              <a:pathLst>
                <a:path h="127490" w="127490">
                  <a:moveTo>
                    <a:pt x="0" y="0"/>
                  </a:moveTo>
                  <a:lnTo>
                    <a:pt x="127490" y="0"/>
                  </a:lnTo>
                  <a:lnTo>
                    <a:pt x="127490" y="127490"/>
                  </a:lnTo>
                  <a:lnTo>
                    <a:pt x="0" y="1274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127490" cy="11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88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56332" y="4706303"/>
            <a:ext cx="5179073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Contenidos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51679" y="1829117"/>
            <a:ext cx="7852296" cy="639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Sistemas informáticos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Bases de datos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Programación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Lenguaje de marcas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 de datos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Demostración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34711" y="1829117"/>
            <a:ext cx="1167193" cy="639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05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06</a:t>
            </a:r>
          </a:p>
          <a:p>
            <a:pPr algn="r">
              <a:lnSpc>
                <a:spcPts val="7279"/>
              </a:lnSpc>
            </a:pPr>
            <a:r>
              <a:rPr lang="en-US" sz="3999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16941"/>
            <a:ext cx="9645542" cy="2598034"/>
            <a:chOff x="0" y="0"/>
            <a:chExt cx="3518720" cy="9477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8720" cy="947770"/>
            </a:xfrm>
            <a:custGeom>
              <a:avLst/>
              <a:gdLst/>
              <a:ahLst/>
              <a:cxnLst/>
              <a:rect r="r" b="b" t="t" l="l"/>
              <a:pathLst>
                <a:path h="947770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5990459"/>
            <a:ext cx="9645542" cy="2966851"/>
            <a:chOff x="0" y="0"/>
            <a:chExt cx="3518720" cy="10823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18720" cy="1082315"/>
            </a:xfrm>
            <a:custGeom>
              <a:avLst/>
              <a:gdLst/>
              <a:ahLst/>
              <a:cxnLst/>
              <a:rect r="r" b="b" t="t" l="l"/>
              <a:pathLst>
                <a:path h="1082315" w="3518720">
                  <a:moveTo>
                    <a:pt x="0" y="0"/>
                  </a:moveTo>
                  <a:lnTo>
                    <a:pt x="3518720" y="0"/>
                  </a:lnTo>
                  <a:lnTo>
                    <a:pt x="3518720" y="1082315"/>
                  </a:lnTo>
                  <a:lnTo>
                    <a:pt x="0" y="1082315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1066800" y="2550657"/>
            <a:ext cx="0" cy="2598034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66800" y="5990459"/>
            <a:ext cx="0" cy="2916133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Sistemas informáticos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9030" y="2831720"/>
            <a:ext cx="8524589" cy="3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Arq</a:t>
            </a: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uitectura Cliente-Servidor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9030" y="6262396"/>
            <a:ext cx="8524589" cy="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</a:t>
            </a: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etivo Tecnológico</a:t>
            </a:r>
          </a:p>
          <a:p>
            <a:pPr algn="l">
              <a:lnSpc>
                <a:spcPts val="290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509030" y="3393363"/>
            <a:ext cx="8872536" cy="172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9"/>
              </a:lnSpc>
            </a:pPr>
            <a:r>
              <a:rPr lang="en-US" sz="19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Implementación de una infraestructura en la nube (AWS) para garantizar la escalabilidad y disponibilidad de la aplicación.</a:t>
            </a:r>
          </a:p>
          <a:p>
            <a:pPr algn="l">
              <a:lnSpc>
                <a:spcPts val="2299"/>
              </a:lnSpc>
            </a:pPr>
            <a:r>
              <a:rPr lang="en-US" sz="19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separa el servidor de base de datos de la capa web para optimizar la seguridad y el rendimiento del sistema.</a:t>
            </a:r>
          </a:p>
          <a:p>
            <a:pPr algn="l">
              <a:lnSpc>
                <a:spcPts val="22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09030" y="6766464"/>
            <a:ext cx="8524589" cy="200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8"/>
              </a:lnSpc>
            </a:pPr>
            <a:r>
              <a:rPr lang="en-US" sz="18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Desplegar una infraestructura robusta que soporte una aplicación Java con base de datos MySQL y servicios Apache.</a:t>
            </a:r>
          </a:p>
          <a:p>
            <a:pPr algn="l">
              <a:lnSpc>
                <a:spcPts val="2298"/>
              </a:lnSpc>
            </a:pPr>
          </a:p>
          <a:p>
            <a:pPr algn="l">
              <a:lnSpc>
                <a:spcPts val="2298"/>
              </a:lnSpc>
            </a:pPr>
            <a:r>
              <a:rPr lang="en-US" sz="18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Cumplimiento de las especificaciones técnicas del curso 2025-26 utilizando herramientas profesionales.</a:t>
            </a:r>
          </a:p>
          <a:p>
            <a:pPr algn="l">
              <a:lnSpc>
                <a:spcPts val="2298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853690" y="1323653"/>
            <a:ext cx="3147462" cy="1886018"/>
          </a:xfrm>
          <a:custGeom>
            <a:avLst/>
            <a:gdLst/>
            <a:ahLst/>
            <a:cxnLst/>
            <a:rect r="r" b="b" t="t" l="l"/>
            <a:pathLst>
              <a:path h="1886018" w="3147462">
                <a:moveTo>
                  <a:pt x="0" y="0"/>
                </a:moveTo>
                <a:lnTo>
                  <a:pt x="3147463" y="0"/>
                </a:lnTo>
                <a:lnTo>
                  <a:pt x="3147463" y="1886019"/>
                </a:lnTo>
                <a:lnTo>
                  <a:pt x="0" y="1886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311100" y="3706993"/>
            <a:ext cx="2815963" cy="2815963"/>
          </a:xfrm>
          <a:custGeom>
            <a:avLst/>
            <a:gdLst/>
            <a:ahLst/>
            <a:cxnLst/>
            <a:rect r="r" b="b" t="t" l="l"/>
            <a:pathLst>
              <a:path h="2815963" w="2815963">
                <a:moveTo>
                  <a:pt x="0" y="0"/>
                </a:moveTo>
                <a:lnTo>
                  <a:pt x="2815963" y="0"/>
                </a:lnTo>
                <a:lnTo>
                  <a:pt x="2815963" y="2815963"/>
                </a:lnTo>
                <a:lnTo>
                  <a:pt x="0" y="2815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95329" y="7020278"/>
            <a:ext cx="3864184" cy="1568215"/>
          </a:xfrm>
          <a:custGeom>
            <a:avLst/>
            <a:gdLst/>
            <a:ahLst/>
            <a:cxnLst/>
            <a:rect r="r" b="b" t="t" l="l"/>
            <a:pathLst>
              <a:path h="1568215" w="3864184">
                <a:moveTo>
                  <a:pt x="0" y="0"/>
                </a:moveTo>
                <a:lnTo>
                  <a:pt x="3864185" y="0"/>
                </a:lnTo>
                <a:lnTo>
                  <a:pt x="3864185" y="1568215"/>
                </a:lnTo>
                <a:lnTo>
                  <a:pt x="0" y="1568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950203" y="3539943"/>
          <a:ext cx="14387594" cy="4114800"/>
        </p:xfrm>
        <a:graphic>
          <a:graphicData uri="http://schemas.openxmlformats.org/drawingml/2006/table">
            <a:tbl>
              <a:tblPr/>
              <a:tblGrid>
                <a:gridCol w="3548314"/>
                <a:gridCol w="3525562"/>
                <a:gridCol w="3913150"/>
                <a:gridCol w="3400567"/>
              </a:tblGrid>
              <a:tr h="1028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41382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ID de Instancia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41382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IP Pública (Elástica)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41382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IP Privada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b="true" sz="2599">
                          <a:solidFill>
                            <a:srgbClr val="41382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Instancia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i-055409b08db910e2e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3.224.141.230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172.31.37.229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Web / Apache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i-048b71532d6507449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18.209.239.238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172.31.45.180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b="true" sz="17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Base de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t3.micro (2 vCPU)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OS: Ubuntu 24.04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CBD5E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SSD: 20GB gp3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047750"/>
            <a:ext cx="946874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Instancias EC2 del Reto  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22924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2745" y="3175415"/>
            <a:ext cx="3791453" cy="4744959"/>
            <a:chOff x="0" y="0"/>
            <a:chExt cx="998572" cy="1249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8273" y="3175415"/>
            <a:ext cx="3791453" cy="4744959"/>
            <a:chOff x="0" y="0"/>
            <a:chExt cx="998572" cy="12497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63802" y="3175415"/>
            <a:ext cx="3791453" cy="4744959"/>
            <a:chOff x="0" y="0"/>
            <a:chExt cx="998572" cy="12497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20125" y="3526337"/>
            <a:ext cx="3216693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94"/>
              </a:lnSpc>
            </a:pP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T3.MIC</a:t>
            </a: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37553" y="3526337"/>
            <a:ext cx="323987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94"/>
              </a:lnSpc>
            </a:pP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</a:t>
            </a: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BUNTU 24.04 LTS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1182" y="3526337"/>
            <a:ext cx="2725515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94"/>
              </a:lnSpc>
            </a:pP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EBS</a:t>
            </a: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GP3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0125" y="4710847"/>
            <a:ext cx="3216693" cy="235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Seleccionada por su balance coste/rendimiento. Ideal para ráfagas (Burstable) en entornos de desarrollo académico.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5653" y="4710847"/>
            <a:ext cx="3216693" cy="176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Garantiza 5 años de parches de seguridad y un footprint mínimo de RAM para maximizar recursos de MySQL.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51182" y="4710847"/>
            <a:ext cx="3216693" cy="176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Almacenamiento de 20GB con IOPS independientes. Persistencia de datos asegurada tras paradas del sistema.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47750"/>
            <a:ext cx="946874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Cómputo y S.O. {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73422" y="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31904" y="5694486"/>
            <a:ext cx="4714131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35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isponibilidad Lógica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9789" y="3688752"/>
            <a:ext cx="6418362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5C6C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42251" y="3236632"/>
            <a:ext cx="566499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05C6C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3399">
                <a:solidFill>
                  <a:srgbClr val="05C6C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ireccionamiento Estático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984518" y="4183099"/>
            <a:ext cx="5664994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Evit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amos el dinamismo de AWS: al reiniciar la instancia, la IP pública no cambia.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42251" y="5329362"/>
            <a:ext cx="5707261" cy="1800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7" indent="-215904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Estabilidad para la conexión JDBC de Java.</a:t>
            </a:r>
          </a:p>
          <a:p>
            <a:pPr algn="ctr" marL="431807" indent="-215904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Marc</a:t>
            </a: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adores de navegador fijos para Apache.</a:t>
            </a:r>
          </a:p>
          <a:p>
            <a:pPr algn="ctr" marL="431807" indent="-215904" lvl="1">
              <a:lnSpc>
                <a:spcPts val="36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Configuración SSH y SFTP persistente.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946874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IPs Elásticas y Persistencia {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2745" y="3175415"/>
            <a:ext cx="3791453" cy="4744959"/>
            <a:chOff x="0" y="0"/>
            <a:chExt cx="998572" cy="12497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248273" y="3175415"/>
            <a:ext cx="3791453" cy="4744959"/>
            <a:chOff x="0" y="0"/>
            <a:chExt cx="998572" cy="12497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63802" y="3175415"/>
            <a:ext cx="3791453" cy="4744959"/>
            <a:chOff x="0" y="0"/>
            <a:chExt cx="998572" cy="12497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20125" y="3526337"/>
            <a:ext cx="3610024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3899" b="true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SG_APP(WEB)</a:t>
            </a:r>
          </a:p>
          <a:p>
            <a:pPr algn="l" marL="0" indent="0" lvl="1">
              <a:lnSpc>
                <a:spcPts val="4094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637553" y="3526337"/>
            <a:ext cx="3239870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3899" b="true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SG_DB</a:t>
            </a: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(MYSQL)</a:t>
            </a:r>
          </a:p>
          <a:p>
            <a:pPr algn="l" marL="0" indent="0" lvl="1">
              <a:lnSpc>
                <a:spcPts val="409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451182" y="3507287"/>
            <a:ext cx="2725515" cy="15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800" b="true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PRINCIPIO MÍNIMO</a:t>
            </a:r>
            <a:r>
              <a:rPr lang="en-US" b="true" sz="2800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 PRIVILEGIO</a:t>
            </a:r>
          </a:p>
          <a:p>
            <a:pPr algn="l" marL="0" indent="0" lvl="1">
              <a:lnSpc>
                <a:spcPts val="356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20125" y="4791256"/>
            <a:ext cx="3216693" cy="235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P22: Whitelist (Admin IP)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P80/443: 0.0.0.0/0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P3000: Desarrollo</a:t>
            </a: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535653" y="4791256"/>
            <a:ext cx="3216693" cy="265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P3306: Solo desde SG_APP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P22: Whitelist (Admin IP)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ICMP: Diagnóstico interno</a:t>
            </a: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449552" y="4938294"/>
            <a:ext cx="3218323" cy="235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00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Acceso administrativo restringido a la IP 213.96.236.200/32.</a:t>
            </a:r>
          </a:p>
          <a:p>
            <a:pPr algn="l">
              <a:lnSpc>
                <a:spcPts val="2361"/>
              </a:lnSpc>
            </a:pPr>
          </a:p>
          <a:p>
            <a:pPr algn="l" marL="0" indent="0" lvl="0">
              <a:lnSpc>
                <a:spcPts val="2361"/>
              </a:lnSpc>
              <a:spcBef>
                <a:spcPct val="0"/>
              </a:spcBef>
            </a:pPr>
            <a:r>
              <a:rPr lang="en-US" sz="2001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Cortafuegos hermético por puerto.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47750"/>
            <a:ext cx="946874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Security Groups {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96808" y="6542023"/>
            <a:ext cx="5594896" cy="88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CREATE DATABASE inventario_taller;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GRANT ALL ON inventario_taller.* TO </a:t>
            </a:r>
          </a:p>
          <a:p>
            <a:pPr algn="l">
              <a:lnSpc>
                <a:spcPts val="236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'taller_user'@'172.31.37.229';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80111" y="6198870"/>
            <a:ext cx="6368901" cy="1558160"/>
            <a:chOff x="0" y="0"/>
            <a:chExt cx="1677406" cy="4103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7406" cy="410380"/>
            </a:xfrm>
            <a:custGeom>
              <a:avLst/>
              <a:gdLst/>
              <a:ahLst/>
              <a:cxnLst/>
              <a:rect r="r" b="b" t="t" l="l"/>
              <a:pathLst>
                <a:path h="410380" w="1677406">
                  <a:moveTo>
                    <a:pt x="0" y="0"/>
                  </a:moveTo>
                  <a:lnTo>
                    <a:pt x="1677406" y="0"/>
                  </a:lnTo>
                  <a:lnTo>
                    <a:pt x="1677406" y="410380"/>
                  </a:lnTo>
                  <a:lnTo>
                    <a:pt x="0" y="410380"/>
                  </a:lnTo>
                  <a:close/>
                </a:path>
              </a:pathLst>
            </a:custGeom>
            <a:ln w="38100" cap="sq">
              <a:solidFill>
                <a:srgbClr val="05C6C0"/>
              </a:solidFill>
              <a:prstDash val="dash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677406" cy="400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34708" y="2125485"/>
            <a:ext cx="5933161" cy="5933161"/>
          </a:xfrm>
          <a:custGeom>
            <a:avLst/>
            <a:gdLst/>
            <a:ahLst/>
            <a:cxnLst/>
            <a:rect r="r" b="b" t="t" l="l"/>
            <a:pathLst>
              <a:path h="5933161" w="5933161">
                <a:moveTo>
                  <a:pt x="0" y="0"/>
                </a:moveTo>
                <a:lnTo>
                  <a:pt x="5933161" y="0"/>
                </a:lnTo>
                <a:lnTo>
                  <a:pt x="5933161" y="5933160"/>
                </a:lnTo>
                <a:lnTo>
                  <a:pt x="0" y="5933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238" t="0" r="-4523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Configuración MySQL 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111" y="2923413"/>
            <a:ext cx="6988679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Socket Binding: Modificación a 0.0.0.0 en mysqld.cnf.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taller_user: Acceso desde IP 172.31.37.229.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Importación: Carga de backup_taller.sql mediante terminal.</a:t>
            </a: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849" y="7680639"/>
            <a:ext cx="704252" cy="756056"/>
          </a:xfrm>
          <a:custGeom>
            <a:avLst/>
            <a:gdLst/>
            <a:ahLst/>
            <a:cxnLst/>
            <a:rect r="r" b="b" t="t" l="l"/>
            <a:pathLst>
              <a:path h="756056" w="704252">
                <a:moveTo>
                  <a:pt x="0" y="0"/>
                </a:moveTo>
                <a:lnTo>
                  <a:pt x="704252" y="0"/>
                </a:lnTo>
                <a:lnTo>
                  <a:pt x="704252" y="756056"/>
                </a:lnTo>
                <a:lnTo>
                  <a:pt x="0" y="756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438284"/>
            <a:ext cx="581527" cy="713928"/>
          </a:xfrm>
          <a:custGeom>
            <a:avLst/>
            <a:gdLst/>
            <a:ahLst/>
            <a:cxnLst/>
            <a:rect r="r" b="b" t="t" l="l"/>
            <a:pathLst>
              <a:path h="713928" w="581527">
                <a:moveTo>
                  <a:pt x="0" y="0"/>
                </a:moveTo>
                <a:lnTo>
                  <a:pt x="581527" y="0"/>
                </a:lnTo>
                <a:lnTo>
                  <a:pt x="581527" y="713928"/>
                </a:lnTo>
                <a:lnTo>
                  <a:pt x="0" y="713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305106"/>
            <a:ext cx="581527" cy="669121"/>
          </a:xfrm>
          <a:custGeom>
            <a:avLst/>
            <a:gdLst/>
            <a:ahLst/>
            <a:cxnLst/>
            <a:rect r="r" b="b" t="t" l="l"/>
            <a:pathLst>
              <a:path h="669121" w="581527">
                <a:moveTo>
                  <a:pt x="0" y="0"/>
                </a:moveTo>
                <a:lnTo>
                  <a:pt x="581527" y="0"/>
                </a:lnTo>
                <a:lnTo>
                  <a:pt x="581527" y="669120"/>
                </a:lnTo>
                <a:lnTo>
                  <a:pt x="0" y="6691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536394" y="3935799"/>
            <a:ext cx="6722906" cy="3017654"/>
            <a:chOff x="0" y="0"/>
            <a:chExt cx="1770642" cy="7947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70642" cy="794773"/>
            </a:xfrm>
            <a:custGeom>
              <a:avLst/>
              <a:gdLst/>
              <a:ahLst/>
              <a:cxnLst/>
              <a:rect r="r" b="b" t="t" l="l"/>
              <a:pathLst>
                <a:path h="794773" w="1770642">
                  <a:moveTo>
                    <a:pt x="58730" y="0"/>
                  </a:moveTo>
                  <a:lnTo>
                    <a:pt x="1711912" y="0"/>
                  </a:lnTo>
                  <a:cubicBezTo>
                    <a:pt x="1744348" y="0"/>
                    <a:pt x="1770642" y="26294"/>
                    <a:pt x="1770642" y="58730"/>
                  </a:cubicBezTo>
                  <a:lnTo>
                    <a:pt x="1770642" y="736043"/>
                  </a:lnTo>
                  <a:cubicBezTo>
                    <a:pt x="1770642" y="768479"/>
                    <a:pt x="1744348" y="794773"/>
                    <a:pt x="1711912" y="794773"/>
                  </a:cubicBezTo>
                  <a:lnTo>
                    <a:pt x="58730" y="794773"/>
                  </a:lnTo>
                  <a:cubicBezTo>
                    <a:pt x="26294" y="794773"/>
                    <a:pt x="0" y="768479"/>
                    <a:pt x="0" y="736043"/>
                  </a:cubicBezTo>
                  <a:lnTo>
                    <a:pt x="0" y="58730"/>
                  </a:lnTo>
                  <a:cubicBezTo>
                    <a:pt x="0" y="26294"/>
                    <a:pt x="26294" y="0"/>
                    <a:pt x="58730" y="0"/>
                  </a:cubicBezTo>
                  <a:close/>
                </a:path>
              </a:pathLst>
            </a:custGeom>
            <a:solidFill>
              <a:srgbClr val="2D2D3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70642" cy="7947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33849" y="3275709"/>
            <a:ext cx="8196858" cy="5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5"/>
              </a:lnSpc>
              <a:spcBef>
                <a:spcPct val="0"/>
              </a:spcBef>
            </a:pPr>
            <a:r>
              <a:rPr lang="en-US" sz="336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Menos complejidad, más velocidad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849" y="4025170"/>
            <a:ext cx="6735812" cy="75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  <a:spcBef>
                <a:spcPct val="0"/>
              </a:spcBef>
            </a:pPr>
            <a:r>
              <a:rPr lang="en-US" sz="17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 diseñar la base de datos, nuestro objetivo fue que el sistema respondiera rápido y fuera fácil de mantener.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7444" y="5444626"/>
            <a:ext cx="6940897" cy="5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71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Optimización del espacio:</a:t>
            </a: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Eliminamos niveles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innecesarios del esquema inicial (como las "baldas").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7444" y="6438807"/>
            <a:ext cx="5631359" cy="75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71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Mapeo directo:</a:t>
            </a: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Controlamos el inventario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apuntando directamente a mesas y cajones de</a:t>
            </a:r>
          </a:p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armarios.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7444" y="7680639"/>
            <a:ext cx="5893296" cy="75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b="true" sz="1719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Resultado:</a:t>
            </a: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Consultas (búsquedas de material)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mucho más rápidas y menos código que mantener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la aplicación.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8036" y="4605704"/>
            <a:ext cx="5299621" cy="351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  <a:spcBef>
                <a:spcPct val="0"/>
              </a:spcBef>
            </a:pPr>
            <a:r>
              <a:rPr lang="en-US" sz="23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Reglas estrictas desde la base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48036" y="5416051"/>
            <a:ext cx="6001643" cy="75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71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No dejamos que la aplicación envíe datos incorrectos por error. La propia base de datos rechaza información incoherente: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47750"/>
            <a:ext cx="890837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 diseño pensado en la agilidad del día a día {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47750"/>
            <a:ext cx="14260533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559"/>
              </a:lnSpc>
              <a:buAutoNum type="arabicPeriod" startAt="1"/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146572" y="2730402"/>
            <a:ext cx="1599485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Hemos automatizado la tabla registro, para poder llevar un control de algunas de las funcionalidades de la aplicación mediante triggers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26525" y="3865103"/>
            <a:ext cx="3208462" cy="3962221"/>
            <a:chOff x="0" y="0"/>
            <a:chExt cx="1330715" cy="1643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0715" cy="1643337"/>
            </a:xfrm>
            <a:custGeom>
              <a:avLst/>
              <a:gdLst/>
              <a:ahLst/>
              <a:cxnLst/>
              <a:rect r="r" b="b" t="t" l="l"/>
              <a:pathLst>
                <a:path h="1643337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643337"/>
                  </a:lnTo>
                  <a:lnTo>
                    <a:pt x="0" y="1643337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31600" y="4817672"/>
            <a:ext cx="2598314" cy="27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de control de estado de un material mediante su cantidad.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Funcionalidad: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Cuando un material llega a 0, su estado en la base de datos pasa automaticamente a ‘prestado’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1600" y="4153264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602589" y="3865103"/>
            <a:ext cx="3208462" cy="4540954"/>
            <a:chOff x="0" y="0"/>
            <a:chExt cx="1330715" cy="1883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0715" cy="1883368"/>
            </a:xfrm>
            <a:custGeom>
              <a:avLst/>
              <a:gdLst/>
              <a:ahLst/>
              <a:cxnLst/>
              <a:rect r="r" b="b" t="t" l="l"/>
              <a:pathLst>
                <a:path h="1883368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883368"/>
                  </a:lnTo>
                  <a:lnTo>
                    <a:pt x="0" y="188336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907663" y="4817672"/>
            <a:ext cx="2598314" cy="331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para el registro de los cambios de estado.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Funcionalidad: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Cuando un material cambia su estado, se crea un registro en la tabla registro guardando su estado inicial como el de despues del 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07663" y="4153264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77801" y="3865103"/>
            <a:ext cx="3208462" cy="4791217"/>
            <a:chOff x="0" y="0"/>
            <a:chExt cx="1330715" cy="1987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0715" cy="1987164"/>
            </a:xfrm>
            <a:custGeom>
              <a:avLst/>
              <a:gdLst/>
              <a:ahLst/>
              <a:cxnLst/>
              <a:rect r="r" b="b" t="t" l="l"/>
              <a:pathLst>
                <a:path h="1987164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987164"/>
                  </a:lnTo>
                  <a:lnTo>
                    <a:pt x="0" y="1987164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782875" y="4817672"/>
            <a:ext cx="2598314" cy="3588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para el registro de inserciones de material.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Funcionalidad: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Cuando se da de alta un material nuevo, el trigger se acciona creando un registro en la tabla registro, almacenando su cantidad y su estado.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2875" y="4153264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353013" y="3865103"/>
            <a:ext cx="3208462" cy="4540954"/>
            <a:chOff x="0" y="0"/>
            <a:chExt cx="1330715" cy="1883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0715" cy="1883368"/>
            </a:xfrm>
            <a:custGeom>
              <a:avLst/>
              <a:gdLst/>
              <a:ahLst/>
              <a:cxnLst/>
              <a:rect r="r" b="b" t="t" l="l"/>
              <a:pathLst>
                <a:path h="1883368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883368"/>
                  </a:lnTo>
                  <a:lnTo>
                    <a:pt x="0" y="188336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658087" y="4817672"/>
            <a:ext cx="2598314" cy="331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para el registro de cambios de cantidad.</a:t>
            </a:r>
          </a:p>
          <a:p>
            <a:pPr algn="l">
              <a:lnSpc>
                <a:spcPts val="2239"/>
              </a:lnSpc>
            </a:pP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Funcionalidad:</a:t>
            </a:r>
          </a:p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Cuando un material es reducido o aumentado, el trigger crea un registro en la tabla registrando su cantidad anterior y nueva.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58087" y="4153264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TRIGGER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047750"/>
            <a:ext cx="8754175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 de datos inteligente (Triggers) {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5515028"/>
            <a:ext cx="5692906" cy="2526073"/>
          </a:xfrm>
          <a:custGeom>
            <a:avLst/>
            <a:gdLst/>
            <a:ahLst/>
            <a:cxnLst/>
            <a:rect r="r" b="b" t="t" l="l"/>
            <a:pathLst>
              <a:path h="2526073" w="5692906">
                <a:moveTo>
                  <a:pt x="0" y="0"/>
                </a:moveTo>
                <a:lnTo>
                  <a:pt x="5692906" y="0"/>
                </a:lnTo>
                <a:lnTo>
                  <a:pt x="5692906" y="2526073"/>
                </a:lnTo>
                <a:lnTo>
                  <a:pt x="0" y="252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35782"/>
            <a:ext cx="9746754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Protección contra Stock Negativo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042789"/>
            <a:ext cx="9111009" cy="89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mayor riesgo de un inventario es que el sistema diga que tienes "-5 cables". Esto arruinaría la fiabilidad del programa.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224802"/>
            <a:ext cx="4743163" cy="315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Hemos configurado la base de datos para que bloquee en seco cualquier intento de sacar más unidades de las que hay.</a:t>
            </a:r>
          </a:p>
          <a:p>
            <a:pPr algn="l">
              <a:lnSpc>
                <a:spcPts val="2280"/>
              </a:lnSpc>
              <a:spcBef>
                <a:spcPct val="0"/>
              </a:spcBef>
            </a:pPr>
          </a:p>
          <a:p>
            <a:pPr algn="l">
              <a:lnSpc>
                <a:spcPts val="228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Pruebas superadas:</a:t>
            </a:r>
            <a:r>
              <a:rPr lang="en-US" sz="2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Al forzar un error, el sistema lanza la alerta (Error 1644 - Stock insuficiente) y cancela la operación, protegiendo los datos reales.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47750"/>
            <a:ext cx="7031406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Blindaje contra Errores Críticos {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63716" y="1180737"/>
            <a:ext cx="7475145" cy="7027254"/>
          </a:xfrm>
          <a:custGeom>
            <a:avLst/>
            <a:gdLst/>
            <a:ahLst/>
            <a:cxnLst/>
            <a:rect r="r" b="b" t="t" l="l"/>
            <a:pathLst>
              <a:path h="7027254" w="7475145">
                <a:moveTo>
                  <a:pt x="0" y="0"/>
                </a:moveTo>
                <a:lnTo>
                  <a:pt x="7475145" y="0"/>
                </a:lnTo>
                <a:lnTo>
                  <a:pt x="7475145" y="7027254"/>
                </a:lnTo>
                <a:lnTo>
                  <a:pt x="0" y="70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506" t="0" r="-20506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Programación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063" y="2168580"/>
            <a:ext cx="6988679" cy="2456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aplicación se ha llevado a cabo en Java Swing utilizando el ED Netbeans.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Cuenta con funcionalidades para profesores y otras exclusivas de los administradores.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063" y="5681853"/>
            <a:ext cx="6988679" cy="327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 la hora de desarrollar este proyecto hemos apostado por la accesibilidad, la cual además de contar con las funcionalidades esenciales, cuenta con botones claros y una presentación intuitiva. Cualquiera aunque no tenga una explicación podría usarla sin problema.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4" id="4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aplicación {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372" y="2405253"/>
            <a:ext cx="6988679" cy="655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Nuestra aplicación cuenta de un JFrame principal y el resto de las ventanas que surgen de pulsar los diferentes botones del menú principal han sido creadas como JDialog.</a:t>
            </a:r>
          </a:p>
          <a:p>
            <a:pPr algn="just">
              <a:lnSpc>
                <a:spcPts val="3264"/>
              </a:lnSpc>
            </a:pPr>
          </a:p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menú principal cuenta con un panel interactivo desde el que se puede consultar todos los materiales que se encuentran registrados en la base de datos.</a:t>
            </a:r>
          </a:p>
          <a:p>
            <a:pPr algn="just">
              <a:lnSpc>
                <a:spcPts val="3264"/>
              </a:lnSpc>
            </a:pPr>
          </a:p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 vez pulsado uno de los objetos, se puede interactuar con ellos con las secciones a la derecha de esta diapositiva.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4553" y="3134287"/>
            <a:ext cx="5235400" cy="445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Consultar materiales.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Buscar.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Prestar materiales.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Devoluciones.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Dar de alta y de baja.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Modificar material.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Crear informes.</a:t>
            </a:r>
          </a:p>
          <a:p>
            <a:pPr algn="l" marL="518160" indent="-259080" lvl="1">
              <a:lnSpc>
                <a:spcPts val="4440"/>
              </a:lnSpc>
              <a:buFont typeface="Arial"/>
              <a:buChar char="•"/>
            </a:pPr>
            <a:r>
              <a:rPr lang="en-US" sz="24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Gestionar ubicación.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070372"/>
            <a:ext cx="3208462" cy="3436054"/>
            <a:chOff x="0" y="0"/>
            <a:chExt cx="1330715" cy="1425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0715" cy="1425109"/>
            </a:xfrm>
            <a:custGeom>
              <a:avLst/>
              <a:gdLst/>
              <a:ahLst/>
              <a:cxnLst/>
              <a:rect r="r" b="b" t="t" l="l"/>
              <a:pathLst>
                <a:path h="1425109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425109"/>
                  </a:lnTo>
                  <a:lnTo>
                    <a:pt x="0" y="1425109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39769" y="3070372"/>
            <a:ext cx="3208462" cy="5020838"/>
            <a:chOff x="0" y="0"/>
            <a:chExt cx="1330715" cy="208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0715" cy="2082400"/>
            </a:xfrm>
            <a:custGeom>
              <a:avLst/>
              <a:gdLst/>
              <a:ahLst/>
              <a:cxnLst/>
              <a:rect r="r" b="b" t="t" l="l"/>
              <a:pathLst>
                <a:path h="2082400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2082400"/>
                  </a:lnTo>
                  <a:lnTo>
                    <a:pt x="0" y="208240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50838" y="3070372"/>
            <a:ext cx="3208462" cy="4540954"/>
            <a:chOff x="0" y="0"/>
            <a:chExt cx="1330715" cy="1883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0715" cy="1883368"/>
            </a:xfrm>
            <a:custGeom>
              <a:avLst/>
              <a:gdLst/>
              <a:ahLst/>
              <a:cxnLst/>
              <a:rect r="r" b="b" t="t" l="l"/>
              <a:pathLst>
                <a:path h="1883368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883368"/>
                  </a:lnTo>
                  <a:lnTo>
                    <a:pt x="0" y="188336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84235" y="3070372"/>
            <a:ext cx="3208462" cy="5203214"/>
            <a:chOff x="0" y="0"/>
            <a:chExt cx="1330715" cy="21580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0715" cy="2158041"/>
            </a:xfrm>
            <a:custGeom>
              <a:avLst/>
              <a:gdLst/>
              <a:ahLst/>
              <a:cxnLst/>
              <a:rect r="r" b="b" t="t" l="l"/>
              <a:pathLst>
                <a:path h="2158041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2158041"/>
                  </a:lnTo>
                  <a:lnTo>
                    <a:pt x="0" y="2158041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95304" y="3070372"/>
            <a:ext cx="3208462" cy="4540954"/>
            <a:chOff x="0" y="0"/>
            <a:chExt cx="1330715" cy="18833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0715" cy="1883368"/>
            </a:xfrm>
            <a:custGeom>
              <a:avLst/>
              <a:gdLst/>
              <a:ahLst/>
              <a:cxnLst/>
              <a:rect r="r" b="b" t="t" l="l"/>
              <a:pathLst>
                <a:path h="1883368" w="1330715">
                  <a:moveTo>
                    <a:pt x="0" y="0"/>
                  </a:moveTo>
                  <a:lnTo>
                    <a:pt x="1330715" y="0"/>
                  </a:lnTo>
                  <a:lnTo>
                    <a:pt x="1330715" y="1883368"/>
                  </a:lnTo>
                  <a:lnTo>
                    <a:pt x="0" y="188336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31185" y="3358532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1185" y="4022941"/>
            <a:ext cx="2598314" cy="220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Definir requisitos, funcionalidades y tecnologías del proyecto. En este caso el uso de Java Swing para la interfaz y MySQL para la base de datos.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4843" y="4022941"/>
            <a:ext cx="2598314" cy="386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programan las ventanas y componentes gráficos con Java Swing (botones, tablas, formularios, menús, etc.). También se implementa la lógica de negocio, validaciones y manejo de eventos para que la aplicación funcione correctamente.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66621" y="4022941"/>
            <a:ext cx="2598314" cy="331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realizan pruebas para detectar y corregir errores tanto en la interfaz como en la conexión con la base de datos. Finalmente, se optimiza el sistema y se genera el archivo ejecutable .jar para distribuir o instalar la aplicación.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00378" y="4022941"/>
            <a:ext cx="2598314" cy="303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integra la aplicación con la base de datos. Aquí se desarrollan las operaciones CRUD (crear, leer, actualizar y eliminar datos), permitiendo guardar y consultar información desde la aplicación.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89309" y="3358532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CB6CE6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4843" y="3358532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03989E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00378" y="3358532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45203" y="3358532"/>
            <a:ext cx="2598314" cy="56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6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FASE 5</a:t>
            </a:r>
          </a:p>
        </p:txBody>
      </p:sp>
      <p:sp>
        <p:nvSpPr>
          <p:cNvPr name="AutoShape 21" id="21"/>
          <p:cNvSpPr/>
          <p:nvPr/>
        </p:nvSpPr>
        <p:spPr>
          <a:xfrm>
            <a:off x="2890800" y="2683608"/>
            <a:ext cx="12582600" cy="0"/>
          </a:xfrm>
          <a:prstGeom prst="line">
            <a:avLst/>
          </a:prstGeom>
          <a:ln cap="flat" w="47625">
            <a:solidFill>
              <a:srgbClr val="737373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2459382" y="2467899"/>
            <a:ext cx="431419" cy="431419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717505" y="2467899"/>
            <a:ext cx="431419" cy="431419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B6CE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73040" y="2467899"/>
            <a:ext cx="431419" cy="431419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3989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28574" y="2467899"/>
            <a:ext cx="431419" cy="431419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473400" y="2467899"/>
            <a:ext cx="431419" cy="431419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1047750"/>
            <a:ext cx="9189922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Planificación del desarrollo de la aplicación {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79505" y="4126981"/>
            <a:ext cx="2598314" cy="386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crean los diagramas UML, como casos de uso y clases  para representar la estructura y funcionamiento del sistema. Además, se diseña la base de datos (tablas y relaciones) y se planifican las ventanas y formularios de la interfaz gráfica.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2886" y="-325864"/>
            <a:ext cx="9314578" cy="4821175"/>
            <a:chOff x="0" y="0"/>
            <a:chExt cx="3397983" cy="17587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1758778"/>
            </a:xfrm>
            <a:custGeom>
              <a:avLst/>
              <a:gdLst/>
              <a:ahLst/>
              <a:cxnLst/>
              <a:rect r="r" b="b" t="t" l="l"/>
              <a:pathLst>
                <a:path h="1758778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1758778"/>
                  </a:lnTo>
                  <a:lnTo>
                    <a:pt x="0" y="175877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007548" y="1463375"/>
            <a:ext cx="7360388" cy="6673473"/>
          </a:xfrm>
          <a:custGeom>
            <a:avLst/>
            <a:gdLst/>
            <a:ahLst/>
            <a:cxnLst/>
            <a:rect r="r" b="b" t="t" l="l"/>
            <a:pathLst>
              <a:path h="6673473" w="7360388">
                <a:moveTo>
                  <a:pt x="0" y="0"/>
                </a:moveTo>
                <a:lnTo>
                  <a:pt x="7360387" y="0"/>
                </a:lnTo>
                <a:lnTo>
                  <a:pt x="7360387" y="6673473"/>
                </a:lnTo>
                <a:lnTo>
                  <a:pt x="0" y="66734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70" r="-66847" b="-19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Pagina Web 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752486"/>
            <a:ext cx="6988679" cy="163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Tecnologías utilizadas: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HTML5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CSS3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JavaScript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063" y="2168217"/>
            <a:ext cx="6988679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Hemos desarrolado una pagina web interactiva para la visualizacion y localizacion de material almacenado en el taller del IEs Miguel Herrero Pereda.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646818"/>
            <a:ext cx="6988679" cy="286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Funcionalidades principales: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Plano visual del taller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Navegación entre armarios y cajones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Inventario dinámico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Visualización 3D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Interfaz responsive</a:t>
            </a:r>
          </a:p>
          <a:p>
            <a:pPr algn="just">
              <a:lnSpc>
                <a:spcPts val="3264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9531" y="1925026"/>
            <a:ext cx="7667477" cy="7285365"/>
            <a:chOff x="0" y="0"/>
            <a:chExt cx="3264708" cy="3102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3102010"/>
            </a:xfrm>
            <a:custGeom>
              <a:avLst/>
              <a:gdLst/>
              <a:ahLst/>
              <a:cxnLst/>
              <a:rect r="r" b="b" t="t" l="l"/>
              <a:pathLst>
                <a:path h="3102010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3102010"/>
                  </a:lnTo>
                  <a:lnTo>
                    <a:pt x="0" y="310201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81808" y="1925026"/>
            <a:ext cx="7667477" cy="7285365"/>
            <a:chOff x="0" y="0"/>
            <a:chExt cx="3264708" cy="3102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4708" cy="3102010"/>
            </a:xfrm>
            <a:custGeom>
              <a:avLst/>
              <a:gdLst/>
              <a:ahLst/>
              <a:cxnLst/>
              <a:rect r="r" b="b" t="t" l="l"/>
              <a:pathLst>
                <a:path h="3102010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3102010"/>
                  </a:lnTo>
                  <a:lnTo>
                    <a:pt x="0" y="310201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6709" y="2364030"/>
            <a:ext cx="626169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Estructura HTML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0221" y="2867787"/>
            <a:ext cx="6261698" cy="608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nav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 la barra de navegación.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Permite acceder rápidamente a: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Inicio,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Plano del Taller,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Inventario,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 Inventario 3D.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main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Contiene la parte principal de la aplicación.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Aquí se encuentra: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la visualización de la distribución física de los armarios,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plano visual del taller,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y los detalles de ubicación del inventario.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Esta sección está organizada mediante: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section,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div,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y table</a:t>
            </a:r>
          </a:p>
          <a:p>
            <a:pPr algn="l">
              <a:lnSpc>
                <a:spcPts val="246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41605" y="2867787"/>
            <a:ext cx="6261698" cy="63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head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Contiene la configuración interna de la página: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codificación UTF-8,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configuración responsive,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título de la web,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enlaces a hojas de estilo y fuentes externas.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</a:t>
            </a: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body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Contiene todo el contenido visible de la página web.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Dentro del body se encuentran las principales secciones de la aplicación: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header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Es la cabecera principal de la página.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Muestra: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título del proyecto,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y la información del centro educativo.</a:t>
            </a:r>
          </a:p>
          <a:p>
            <a:pPr algn="l">
              <a:lnSpc>
                <a:spcPts val="2466"/>
              </a:lnSpc>
            </a:pPr>
          </a:p>
          <a:p>
            <a:pPr algn="l">
              <a:lnSpc>
                <a:spcPts val="2466"/>
              </a:lnSpc>
            </a:pPr>
          </a:p>
          <a:p>
            <a:pPr algn="l">
              <a:lnSpc>
                <a:spcPts val="246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HTML 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7135" y="9399188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9531" y="1925026"/>
            <a:ext cx="7667477" cy="7285365"/>
            <a:chOff x="0" y="0"/>
            <a:chExt cx="3264708" cy="3102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4708" cy="3102010"/>
            </a:xfrm>
            <a:custGeom>
              <a:avLst/>
              <a:gdLst/>
              <a:ahLst/>
              <a:cxnLst/>
              <a:rect r="r" b="b" t="t" l="l"/>
              <a:pathLst>
                <a:path h="3102010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3102010"/>
                  </a:lnTo>
                  <a:lnTo>
                    <a:pt x="0" y="310201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36123" y="1925026"/>
            <a:ext cx="7667477" cy="7285365"/>
            <a:chOff x="0" y="0"/>
            <a:chExt cx="3264708" cy="31020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64708" cy="3102010"/>
            </a:xfrm>
            <a:custGeom>
              <a:avLst/>
              <a:gdLst/>
              <a:ahLst/>
              <a:cxnLst/>
              <a:rect r="r" b="b" t="t" l="l"/>
              <a:pathLst>
                <a:path h="3102010" w="3264708">
                  <a:moveTo>
                    <a:pt x="0" y="0"/>
                  </a:moveTo>
                  <a:lnTo>
                    <a:pt x="3264708" y="0"/>
                  </a:lnTo>
                  <a:lnTo>
                    <a:pt x="3264708" y="3102010"/>
                  </a:lnTo>
                  <a:lnTo>
                    <a:pt x="0" y="310201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86709" y="2364030"/>
            <a:ext cx="6261698" cy="45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CSS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0221" y="2867787"/>
            <a:ext cx="6261698" cy="486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JavaScript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J</a:t>
            </a: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avaScript se</a:t>
            </a: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 u</a:t>
            </a: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tiliza para añadir interactividad y comportamiento dinámico a la página.</a:t>
            </a:r>
          </a:p>
          <a:p>
            <a:pPr algn="l">
              <a:lnSpc>
                <a:spcPts val="2466"/>
              </a:lnSpc>
            </a:pP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JavaScript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Interactividad → addEventListener("click")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Manipulación del DOM → querySelector(), getElementById()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Contenido dinámico → innerHTML, innerText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Eventos → click, hover, stopPropagation()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Clases dinámicas → classList.add(), classList.remove()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Datos del inventario → Objetos JSON (const dbTaller = {})</a:t>
            </a:r>
          </a:p>
          <a:p>
            <a:pPr algn="l">
              <a:lnSpc>
                <a:spcPts val="246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41605" y="2867787"/>
            <a:ext cx="6261698" cy="517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El archivo style.css se encarga del diseño visual y la apariencia de la página web.</a:t>
            </a:r>
          </a:p>
          <a:p>
            <a:pPr algn="l">
              <a:lnSpc>
                <a:spcPts val="2466"/>
              </a:lnSpc>
            </a:pPr>
            <a:r>
              <a:rPr lang="en-US" sz="1800" b="true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Permite definir: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Colores → background, color, linear-gradient(), var(--color)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Distribución → display: flex, gap, justify-content, align-items, width, height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Tipografía → font-family, font-size, font-weight, text-transform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Animaciones → transition, transform, scale(), hover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Efectos visuales → box-shadow, border-radius, opacity, border</a:t>
            </a:r>
          </a:p>
          <a:p>
            <a:pPr algn="l" marL="388620" indent="-194310" lvl="1">
              <a:lnSpc>
                <a:spcPts val="2466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Diseño responsive → @media, flex-wrap, min-width, max-width, overflow-x</a:t>
            </a:r>
          </a:p>
          <a:p>
            <a:pPr algn="l">
              <a:lnSpc>
                <a:spcPts val="246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7031406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CSS y JavaScript 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57135" y="9399188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946874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Entorno 3D {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32745" y="3175415"/>
            <a:ext cx="3791453" cy="4744959"/>
            <a:chOff x="0" y="0"/>
            <a:chExt cx="998572" cy="12497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48273" y="3175415"/>
            <a:ext cx="3791453" cy="4744959"/>
            <a:chOff x="0" y="0"/>
            <a:chExt cx="998572" cy="12497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63802" y="3175415"/>
            <a:ext cx="3791453" cy="4744959"/>
            <a:chOff x="0" y="0"/>
            <a:chExt cx="998572" cy="12497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8572" cy="1249701"/>
            </a:xfrm>
            <a:custGeom>
              <a:avLst/>
              <a:gdLst/>
              <a:ahLst/>
              <a:cxnLst/>
              <a:rect r="r" b="b" t="t" l="l"/>
              <a:pathLst>
                <a:path h="1249701" w="998572">
                  <a:moveTo>
                    <a:pt x="55132" y="0"/>
                  </a:moveTo>
                  <a:lnTo>
                    <a:pt x="943440" y="0"/>
                  </a:lnTo>
                  <a:cubicBezTo>
                    <a:pt x="973888" y="0"/>
                    <a:pt x="998572" y="24684"/>
                    <a:pt x="998572" y="55132"/>
                  </a:cubicBezTo>
                  <a:lnTo>
                    <a:pt x="998572" y="1194569"/>
                  </a:lnTo>
                  <a:cubicBezTo>
                    <a:pt x="998572" y="1209191"/>
                    <a:pt x="992763" y="1223214"/>
                    <a:pt x="982424" y="1233553"/>
                  </a:cubicBezTo>
                  <a:cubicBezTo>
                    <a:pt x="972085" y="1243893"/>
                    <a:pt x="958062" y="1249701"/>
                    <a:pt x="943440" y="1249701"/>
                  </a:cubicBezTo>
                  <a:lnTo>
                    <a:pt x="55132" y="1249701"/>
                  </a:lnTo>
                  <a:cubicBezTo>
                    <a:pt x="40510" y="1249701"/>
                    <a:pt x="26487" y="1243893"/>
                    <a:pt x="16148" y="1233553"/>
                  </a:cubicBezTo>
                  <a:cubicBezTo>
                    <a:pt x="5809" y="1223214"/>
                    <a:pt x="0" y="1209191"/>
                    <a:pt x="0" y="1194569"/>
                  </a:cubicBezTo>
                  <a:lnTo>
                    <a:pt x="0" y="55132"/>
                  </a:lnTo>
                  <a:cubicBezTo>
                    <a:pt x="0" y="40510"/>
                    <a:pt x="5809" y="26487"/>
                    <a:pt x="16148" y="16148"/>
                  </a:cubicBezTo>
                  <a:cubicBezTo>
                    <a:pt x="26487" y="5809"/>
                    <a:pt x="40510" y="0"/>
                    <a:pt x="55132" y="0"/>
                  </a:cubicBezTo>
                  <a:close/>
                </a:path>
              </a:pathLst>
            </a:custGeom>
            <a:ln w="47625" cap="rnd">
              <a:solidFill>
                <a:srgbClr val="05C6C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98572" cy="124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20125" y="3526337"/>
            <a:ext cx="3610024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94"/>
              </a:lnSpc>
            </a:pP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ENTORNO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37553" y="3526337"/>
            <a:ext cx="323987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94"/>
              </a:lnSpc>
            </a:pPr>
            <a:r>
              <a:rPr lang="en-US" b="true" sz="3899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CAMARA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1182" y="3497762"/>
            <a:ext cx="310595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50"/>
              </a:lnSpc>
            </a:pPr>
            <a:r>
              <a:rPr lang="en-US" b="true" sz="3000">
                <a:solidFill>
                  <a:srgbClr val="05C6C0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RENDEREIZADO E ILUMINACION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35653" y="5086531"/>
            <a:ext cx="3216693" cy="176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PerspectiveCamera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position.set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lookAt</a:t>
            </a: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307492" y="4899020"/>
            <a:ext cx="3504073" cy="265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WebGLRenderer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AmbientLight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DirectionalLight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shadowMap</a:t>
            </a:r>
          </a:p>
          <a:p>
            <a:pPr algn="l">
              <a:lnSpc>
                <a:spcPts val="2360"/>
              </a:lnSpc>
            </a:pP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20125" y="5381806"/>
            <a:ext cx="3216693" cy="117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scene</a:t>
            </a:r>
          </a:p>
          <a:p>
            <a:pPr algn="l">
              <a:lnSpc>
                <a:spcPts val="2360"/>
              </a:lnSpc>
            </a:pPr>
          </a:p>
          <a:p>
            <a:pPr algn="l" marL="431801" indent="-215900" lvl="1">
              <a:lnSpc>
                <a:spcPts val="236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background</a:t>
            </a:r>
          </a:p>
          <a:p>
            <a:pPr algn="l" marL="0" indent="0" lvl="0">
              <a:lnSpc>
                <a:spcPts val="2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96550"/>
            <a:ext cx="7817048" cy="6759770"/>
            <a:chOff x="0" y="0"/>
            <a:chExt cx="5212305" cy="4507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2305" cy="4507326"/>
            </a:xfrm>
            <a:custGeom>
              <a:avLst/>
              <a:gdLst/>
              <a:ahLst/>
              <a:cxnLst/>
              <a:rect r="r" b="b" t="t" l="l"/>
              <a:pathLst>
                <a:path h="4507326" w="5212305">
                  <a:moveTo>
                    <a:pt x="0" y="0"/>
                  </a:moveTo>
                  <a:lnTo>
                    <a:pt x="5212305" y="0"/>
                  </a:lnTo>
                  <a:lnTo>
                    <a:pt x="5212305" y="4507326"/>
                  </a:lnTo>
                  <a:lnTo>
                    <a:pt x="0" y="4507326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650275" y="1896550"/>
            <a:ext cx="8302028" cy="5884982"/>
          </a:xfrm>
          <a:custGeom>
            <a:avLst/>
            <a:gdLst/>
            <a:ahLst/>
            <a:cxnLst/>
            <a:rect r="r" b="b" t="t" l="l"/>
            <a:pathLst>
              <a:path h="5884982" w="8302028">
                <a:moveTo>
                  <a:pt x="0" y="0"/>
                </a:moveTo>
                <a:lnTo>
                  <a:pt x="8302028" y="0"/>
                </a:lnTo>
                <a:lnTo>
                  <a:pt x="8302028" y="5884982"/>
                </a:lnTo>
                <a:lnTo>
                  <a:pt x="0" y="5884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47750"/>
            <a:ext cx="7817048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Construccion del Taller 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2885" y="2373005"/>
            <a:ext cx="6988679" cy="163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Métodos utilizados: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BoxGeometry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MeshStandardMaterial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Mesh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2885" y="4500719"/>
            <a:ext cx="6988679" cy="163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Funcionalidades principales: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Plano completo del taller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Navegación entre armarios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42885" y="6340113"/>
            <a:ext cx="6988679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Transicion y movimiento: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gsap.to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duration &amp; ease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onUpdate</a:t>
            </a:r>
          </a:p>
          <a:p>
            <a:pPr algn="just">
              <a:lnSpc>
                <a:spcPts val="326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896550"/>
            <a:ext cx="7817048" cy="6759770"/>
            <a:chOff x="0" y="0"/>
            <a:chExt cx="5212305" cy="4507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12305" cy="4507326"/>
            </a:xfrm>
            <a:custGeom>
              <a:avLst/>
              <a:gdLst/>
              <a:ahLst/>
              <a:cxnLst/>
              <a:rect r="r" b="b" t="t" l="l"/>
              <a:pathLst>
                <a:path h="4507326" w="5212305">
                  <a:moveTo>
                    <a:pt x="0" y="0"/>
                  </a:moveTo>
                  <a:lnTo>
                    <a:pt x="5212305" y="0"/>
                  </a:lnTo>
                  <a:lnTo>
                    <a:pt x="5212305" y="4507326"/>
                  </a:lnTo>
                  <a:lnTo>
                    <a:pt x="0" y="4507326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9745983" y="1896550"/>
            <a:ext cx="8110612" cy="5941023"/>
          </a:xfrm>
          <a:custGeom>
            <a:avLst/>
            <a:gdLst/>
            <a:ahLst/>
            <a:cxnLst/>
            <a:rect r="r" b="b" t="t" l="l"/>
            <a:pathLst>
              <a:path h="5941023" w="8110612">
                <a:moveTo>
                  <a:pt x="0" y="0"/>
                </a:moveTo>
                <a:lnTo>
                  <a:pt x="8110612" y="0"/>
                </a:lnTo>
                <a:lnTo>
                  <a:pt x="8110612" y="5941023"/>
                </a:lnTo>
                <a:lnTo>
                  <a:pt x="0" y="5941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47750"/>
            <a:ext cx="7817048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armario {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2885" y="2225150"/>
            <a:ext cx="6988679" cy="1637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Métodos utilizados: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crearCajon &amp; apilarCajones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MeshStandardMaterial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userData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2885" y="4377248"/>
            <a:ext cx="6988679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Funcionalidades principales: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Efect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 Focus con Opacidad Dinámica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Consumo de API Dinámica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Panel Informativo Integrado</a:t>
            </a:r>
          </a:p>
          <a:p>
            <a:pPr algn="just">
              <a:lnSpc>
                <a:spcPts val="32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42885" y="6609588"/>
            <a:ext cx="6988679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Control y Cámara: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Restricción de Rotación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Zoom Inteligente</a:t>
            </a:r>
          </a:p>
          <a:p>
            <a:pPr algn="l" marL="518160" indent="-259080" lvl="1">
              <a:lnSpc>
                <a:spcPts val="3264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Botón Vista Cenital</a:t>
            </a:r>
          </a:p>
          <a:p>
            <a:pPr algn="just">
              <a:lnSpc>
                <a:spcPts val="3264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3245316"/>
            <a:ext cx="10718760" cy="13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Gracias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36522" y="7703295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4891" y="2085555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// RETO IES MIGUEL HERRERO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5265624"/>
            <a:ext cx="12483091" cy="161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4"/>
              </a:lnSpc>
            </a:pPr>
            <a:r>
              <a:rPr lang="en-US" sz="306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System.out.println("Hecho por:</a:t>
            </a:r>
          </a:p>
          <a:p>
            <a:pPr algn="l">
              <a:lnSpc>
                <a:spcPts val="4284"/>
              </a:lnSpc>
            </a:pPr>
            <a:r>
              <a:rPr lang="en-US" sz="3060">
                <a:solidFill>
                  <a:srgbClr val="05C6C0"/>
                </a:solidFill>
                <a:latin typeface="Courier Prime"/>
                <a:ea typeface="Courier Prime"/>
                <a:cs typeface="Courier Prime"/>
                <a:sym typeface="Courier Prime"/>
              </a:rPr>
              <a:t>\nDavid Alonso, Sergio Camacho, Aday Fernández, Alberto González, Adrián González”);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DAHKN_DgSPU</dc:identifier>
  <dcterms:modified xsi:type="dcterms:W3CDTF">2011-08-01T06:04:30Z</dcterms:modified>
  <cp:revision>1</cp:revision>
  <dc:title>RETO EQUIPO 4</dc:title>
</cp:coreProperties>
</file>